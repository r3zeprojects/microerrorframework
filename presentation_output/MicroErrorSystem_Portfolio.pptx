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f903cdb462246c2" /><Relationship Type="http://schemas.openxmlformats.org/officeDocument/2006/relationships/extended-properties" Target="/docProps/app.xml" Id="Re4817fa5aec84b58" /><Relationship Type="http://schemas.openxmlformats.org/officeDocument/2006/relationships/officeDocument" Target="/ppt/presentation.xml" Id="Rffa230f763044f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7921d51de654162"/>
  </p:sldMasterIdLst>
  <p:notesMasterIdLst>
    <p:notesMasterId xmlns:r="http://schemas.openxmlformats.org/officeDocument/2006/relationships" r:id="R90387161965e436e"/>
  </p:notesMasterIdLst>
  <p:sldIdLst>
    <p:sldId xmlns:r="http://schemas.openxmlformats.org/officeDocument/2006/relationships" id="256" r:id="Rd24b4c3006684cd0"/>
    <p:sldId xmlns:r="http://schemas.openxmlformats.org/officeDocument/2006/relationships" id="257" r:id="R8a36bb5cc2db4bf0"/>
    <p:sldId xmlns:r="http://schemas.openxmlformats.org/officeDocument/2006/relationships" id="258" r:id="Rafad966a404c4c2d"/>
    <p:sldId xmlns:r="http://schemas.openxmlformats.org/officeDocument/2006/relationships" id="259" r:id="R72844bcb5a434a1f"/>
    <p:sldId xmlns:r="http://schemas.openxmlformats.org/officeDocument/2006/relationships" id="260" r:id="R9a94f7edc6b64676"/>
    <p:sldId xmlns:r="http://schemas.openxmlformats.org/officeDocument/2006/relationships" id="261" r:id="Rab72047907a84b83"/>
    <p:sldId xmlns:r="http://schemas.openxmlformats.org/officeDocument/2006/relationships" id="262" r:id="R25ff990e96254e84"/>
    <p:sldId xmlns:r="http://schemas.openxmlformats.org/officeDocument/2006/relationships" id="263" r:id="Re07416c8dd464c4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0f6117d0264429a" /><Relationship Type="http://schemas.openxmlformats.org/officeDocument/2006/relationships/slideMaster" Target="/ppt/slideMasters/slideMaster1.xml" Id="R87921d51de654162" /><Relationship Type="http://schemas.openxmlformats.org/officeDocument/2006/relationships/notesMaster" Target="/ppt/notesMasters/notesMaster1.xml" Id="R90387161965e436e" /><Relationship Type="http://schemas.openxmlformats.org/officeDocument/2006/relationships/presProps" Target="/ppt/presProps.xml" Id="R910942cc63ea4cab" /><Relationship Type="http://schemas.openxmlformats.org/officeDocument/2006/relationships/tableStyles" Target="/ppt/tableStyles.xml" Id="Rafc76a24f6db4d38" /><Relationship Type="http://schemas.openxmlformats.org/officeDocument/2006/relationships/slide" Target="/ppt/slides/slide1.xml" Id="Rd24b4c3006684cd0" /><Relationship Type="http://schemas.openxmlformats.org/officeDocument/2006/relationships/slide" Target="/ppt/slides/slide2.xml" Id="R8a36bb5cc2db4bf0" /><Relationship Type="http://schemas.openxmlformats.org/officeDocument/2006/relationships/slide" Target="/ppt/slides/slide3.xml" Id="Rafad966a404c4c2d" /><Relationship Type="http://schemas.openxmlformats.org/officeDocument/2006/relationships/slide" Target="/ppt/slides/slide4.xml" Id="R72844bcb5a434a1f" /><Relationship Type="http://schemas.openxmlformats.org/officeDocument/2006/relationships/slide" Target="/ppt/slides/slide5.xml" Id="R9a94f7edc6b64676" /><Relationship Type="http://schemas.openxmlformats.org/officeDocument/2006/relationships/slide" Target="/ppt/slides/slide6.xml" Id="Rab72047907a84b83" /><Relationship Type="http://schemas.openxmlformats.org/officeDocument/2006/relationships/slide" Target="/ppt/slides/slide7.xml" Id="R25ff990e96254e84" /><Relationship Type="http://schemas.openxmlformats.org/officeDocument/2006/relationships/slide" Target="/ppt/slides/slide8.xml" Id="Re07416c8dd464c4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fa3a8c41ed7464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840ed21d44f41d5" /><Relationship Type="http://schemas.openxmlformats.org/officeDocument/2006/relationships/notesMaster" Target="/ppt/notesMasters/notesMaster1.xml" Id="Re2356ec14dc44e7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af521c0cd7e4b4b" /><Relationship Type="http://schemas.openxmlformats.org/officeDocument/2006/relationships/notesMaster" Target="/ppt/notesMasters/notesMaster1.xml" Id="R882f5cd7cfed443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78a44d8d1084cc4" /><Relationship Type="http://schemas.openxmlformats.org/officeDocument/2006/relationships/notesMaster" Target="/ppt/notesMasters/notesMaster1.xml" Id="Rb2551b3ea4d44d2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e95f82f970a4023" /><Relationship Type="http://schemas.openxmlformats.org/officeDocument/2006/relationships/notesMaster" Target="/ppt/notesMasters/notesMaster1.xml" Id="R2a9fb28485824f8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508273fca124c16" /><Relationship Type="http://schemas.openxmlformats.org/officeDocument/2006/relationships/notesMaster" Target="/ppt/notesMasters/notesMaster1.xml" Id="R8b613f2bc159464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964e1ad65e94667" /><Relationship Type="http://schemas.openxmlformats.org/officeDocument/2006/relationships/notesMaster" Target="/ppt/notesMasters/notesMaster1.xml" Id="R2b0c65aec6ba40c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d75a9ef0fb0468d" /><Relationship Type="http://schemas.openxmlformats.org/officeDocument/2006/relationships/notesMaster" Target="/ppt/notesMasters/notesMaster1.xml" Id="Rafb46b9d9f13470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3841349e7154016" /><Relationship Type="http://schemas.openxmlformats.org/officeDocument/2006/relationships/notesMaster" Target="/ppt/notesMasters/notesMaster1.xml" Id="R543ad87df9a449c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MicroErrorSystem/README.md</a:t>
            </a:r>
          </a:p>
          <a:p xmlns:a="http://schemas.openxmlformats.org/drawingml/2006/main">
            <a:r>
              <a:t>- MicroErrorSystem/include/vosp_error.hpp</a:t>
            </a:r>
          </a:p>
          <a:p xmlns:a="http://schemas.openxmlformats.org/drawingml/2006/main">
            <a:r>
              <a:t>- MicroErrorSystem/include/vosp_logger.hpp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MicroErrorSystem/docs/ARCHITECTURE.md</a:t>
            </a:r>
          </a:p>
          <a:p xmlns:a="http://schemas.openxmlformats.org/drawingml/2006/main">
            <a:r>
              <a:t>- MicroErrorSystem/include/vosp_error.hpp</a:t>
            </a:r>
          </a:p>
          <a:p xmlns:a="http://schemas.openxmlformats.org/drawingml/2006/main">
            <a:r>
              <a:t>- MicroErrorSystem/include/vosp_async.hpp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MicroErrorSystem/include/vosp_worker_pool.hpp</a:t>
            </a:r>
          </a:p>
          <a:p xmlns:a="http://schemas.openxmlformats.org/drawingml/2006/main">
            <a:r>
              <a:t>- MicroErrorSystem/include/vosp_async.hpp</a:t>
            </a:r>
          </a:p>
          <a:p xmlns:a="http://schemas.openxmlformats.org/drawingml/2006/main">
            <a:r>
              <a:t>- MicroErrorSystem/include/vosp_error.hpp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MicroErrorSystem/include/vosp_error.hpp</a:t>
            </a:r>
          </a:p>
          <a:p xmlns:a="http://schemas.openxmlformats.org/drawingml/2006/main">
            <a:r>
              <a:t>- MicroErrorSystem/include/vosp_logger.hpp</a:t>
            </a:r>
          </a:p>
          <a:p xmlns:a="http://schemas.openxmlformats.org/drawingml/2006/main">
            <a:r>
              <a:t>- MicroErrorSystem/include/vosp_worker_pool.hpp</a:t>
            </a:r>
          </a:p>
          <a:p xmlns:a="http://schemas.openxmlformats.org/drawingml/2006/main">
            <a:r>
              <a:t>- MicroErrorSystem/tests/vosp_error_tests.cpp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MicroErrorSystem/docs/BENCHMARKS.md</a:t>
            </a:r>
          </a:p>
          <a:p xmlns:a="http://schemas.openxmlformats.org/drawingml/2006/main">
            <a:r>
              <a:t>- MicroErrorSystem/CMakeLists.txt</a:t>
            </a:r>
          </a:p>
          <a:p xmlns:a="http://schemas.openxmlformats.org/drawingml/2006/main">
            <a:r>
              <a:t>- MicroErrorSystem/tests/</a:t>
            </a:r>
          </a:p>
          <a:p xmlns:a="http://schemas.openxmlformats.org/drawingml/2006/main">
            <a:r>
              <a:t>- CTest output from cmake-build-release-current, cmake-build-asan-release, cmake-build-external-working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MicroErrorSystem/docs/BENCHMARKS.md</a:t>
            </a:r>
          </a:p>
          <a:p xmlns:a="http://schemas.openxmlformats.org/drawingml/2006/main">
            <a:r>
              <a:t>- MicroErrorSystem/benchmarks/vosp_benchmark.cpp</a:t>
            </a:r>
          </a:p>
          <a:p xmlns:a="http://schemas.openxmlformats.org/drawingml/2006/main">
            <a:r>
              <a:t>- MicroErrorSystem/benchmarks/vosp_external_benchmark.cpp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https://github.com/nlohmann/json</a:t>
            </a:r>
          </a:p>
          <a:p xmlns:a="http://schemas.openxmlformats.org/drawingml/2006/main">
            <a:r>
              <a:t>- MicroErrorSystem/tests/vosp_nlohmann_stress_tests.cpp</a:t>
            </a:r>
          </a:p>
          <a:p xmlns:a="http://schemas.openxmlformats.org/drawingml/2006/main">
            <a:r>
              <a:t>- MicroErrorSystem/benchmarks/vosp_external_benchmark.cpp</a:t>
            </a:r>
          </a:p>
          <a:p xmlns:a="http://schemas.openxmlformats.org/drawingml/2006/main">
            <a:r>
              <a:t>- MicroErrorSystem/CMakeLists.txt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MicroErrorSystem/README.md</a:t>
            </a:r>
          </a:p>
          <a:p xmlns:a="http://schemas.openxmlformats.org/drawingml/2006/main">
            <a:r>
              <a:t>- MicroErrorSystem/docs/README.ru.md</a:t>
            </a:r>
          </a:p>
          <a:p xmlns:a="http://schemas.openxmlformats.org/drawingml/2006/main">
            <a:r>
              <a:t>- MicroErrorSystem/docs/BENCHMARKS.md</a:t>
            </a:r>
          </a:p>
          <a:p xmlns:a="http://schemas.openxmlformats.org/drawingml/2006/main">
            <a:r>
              <a:t>- MicroErrorSystem/tests/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5444e89676493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3d8b5d886b8472b" /><Relationship Type="http://schemas.openxmlformats.org/officeDocument/2006/relationships/slideLayout" Target="/ppt/slideLayouts/slideLayout1.xml" Id="R05d9790a09474be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5d9790a09474be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ff90cc9f95447f" /><Relationship Type="http://schemas.openxmlformats.org/officeDocument/2006/relationships/notesSlide" Target="/ppt/notesSlides/notesSlide1.xml" Id="R6456d25833ce492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d2ac7cc8364ad6" /><Relationship Type="http://schemas.openxmlformats.org/officeDocument/2006/relationships/notesSlide" Target="/ppt/notesSlides/notesSlide2.xml" Id="R31a83ea2387247f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5a358abd354485" /><Relationship Type="http://schemas.openxmlformats.org/officeDocument/2006/relationships/notesSlide" Target="/ppt/notesSlides/notesSlide3.xml" Id="R56702a4f0aea4ae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45f0770d884ef2" /><Relationship Type="http://schemas.openxmlformats.org/officeDocument/2006/relationships/notesSlide" Target="/ppt/notesSlides/notesSlide4.xml" Id="R21b2084d48d1430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f8a7c6b1894e0d" /><Relationship Type="http://schemas.openxmlformats.org/officeDocument/2006/relationships/notesSlide" Target="/ppt/notesSlides/notesSlide5.xml" Id="R4a5d74ab737649f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a4b82031c8439e" /><Relationship Type="http://schemas.openxmlformats.org/officeDocument/2006/relationships/notesSlide" Target="/ppt/notesSlides/notesSlide6.xml" Id="R4a47dffedf1c463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d362f27b6d4a73" /><Relationship Type="http://schemas.openxmlformats.org/officeDocument/2006/relationships/notesSlide" Target="/ppt/notesSlides/notesSlide7.xml" Id="R97490eaee12c418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5f69b2b06c4daa" /><Relationship Type="http://schemas.openxmlformats.org/officeDocument/2006/relationships/notesSlide" Target="/ppt/notesSlides/notesSlide8.xml" Id="R8f4bc8411fa0452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6CDABF-541D-4856-97B2-12F3CF6C0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PORTFOLIO / C++23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30865C-8BFC-49AC-82EC-F2A283126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620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11827"/>
                </a:solidFill>
              </a:defRPr>
            </a:pPr>
            <a:r>
              <a:rPr sz="4050" b="1">
                <a:solidFill>
                  <a:srgbClr val="111827"/>
                </a:solidFill>
              </a:rPr>
              <a:t>MicroErrorSystem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72ECDD-C732-4400-8D87-C90AFBAD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4748B"/>
                </a:solidFill>
              </a:defRPr>
            </a:pPr>
            <a:r>
              <a:rPr sz="1875" b="0">
                <a:solidFill>
                  <a:srgbClr val="64748B"/>
                </a:solidFill>
              </a:rPr>
              <a:t>Микро-фреймворк для системно-независимого</a:t>
            </a:r>
          </a:p>
          <a:p xmlns:a="http://schemas.openxmlformats.org/drawingml/2006/main">
            <a:pPr algn="l">
              <a:defRPr sz="1875" b="0">
                <a:solidFill>
                  <a:srgbClr val="64748B"/>
                </a:solidFill>
              </a:defRPr>
            </a:pPr>
            <a:r>
              <a:rPr sz="1875" b="0">
                <a:solidFill>
                  <a:srgbClr val="64748B"/>
                </a:solidFill>
              </a:rPr>
              <a:t>контура ошибок и логгирования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FEF445-C8DF-45BA-9918-0D0A57770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1123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0E21D2-5680-4F90-A03B-581761CE7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C++23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F2F67B-4AA9-454E-8AB4-9B2F560C4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000500"/>
            <a:ext cx="13144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82575F-AC47-45AC-9B26-660508412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057650"/>
            <a:ext cx="1314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API 0.1.0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2185AC-8437-4090-BC9D-745046F5D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00500"/>
            <a:ext cx="1657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A5DC1F-D081-44ED-917D-C49927A9A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57650"/>
            <a:ext cx="1657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RAII · async · OOP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07F8BA-FB8E-4905-B103-74BC14439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371600"/>
            <a:ext cx="2476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03FECF-B06C-4D14-955F-8EAB01357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24025"/>
            <a:ext cx="247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0" b="1">
                <a:solidFill>
                  <a:srgbClr val="FFFFFF"/>
                </a:solidFill>
              </a:defRPr>
            </a:pPr>
            <a:r>
              <a:rPr sz="8400" b="1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1EACF2-25E2-477B-8011-E5BDC276B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861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BFDBFE"/>
                </a:solidFill>
              </a:defRPr>
            </a:pPr>
            <a:r>
              <a:rPr sz="1125" b="0">
                <a:solidFill>
                  <a:srgbClr val="BFDBFE"/>
                </a:solidFill>
              </a:rPr>
              <a:t>error contour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B033BD-4DD4-433F-B9AF-8A04A2AC9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MicroErrorSystem · API 0.1.0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3353CE-9ED7-4052-BE1B-4493F34A0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739664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46337F-44EF-48A6-BB5C-8DE2F8240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01 /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05C9F2-8741-42A1-9B20-93264BCF2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Контур отделён от предметной системы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81473B-E970-4649-AF5E-BA4266986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19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Ошибку можно классифицировать, зарегистрировать и вернуть через единый Result API.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4D0C02-C07B-4F22-AF56-33F02C3D4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MicroErrorSystem · API 0.1.0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3610B9-83F8-420C-B9CD-3622A57E9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5FEA5A-AB4B-43A9-82A9-A9FE3FB0D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1809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7AC7FD-155A-4C1E-831B-F8DEC4CEA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4D475A-CD34-4A4E-8457-91430D2A0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3845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Error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E11A33-92B6-455C-A9B9-048ECF58B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1409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код · категория</a:t>
            </a:r>
          </a:p>
          <a:p xmlns:a="http://schemas.openxmlformats.org/drawingml/2006/main"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сообщение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2E0E51-51C2-4A90-BE97-75DE8D5C6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114675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</a:defRPr>
            </a:pPr>
            <a:r>
              <a:rPr sz="225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2911F6-FB75-49DB-A917-AD19E534D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667000"/>
            <a:ext cx="1809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432B4D-3AA6-4B2E-96E4-191ED2920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66700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B63288-F238-4C07-A7D3-548EE8E58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83845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Handler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EF264C-C0CF-4AE0-B33F-36B5E1CF0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219450"/>
            <a:ext cx="1409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выбор режима</a:t>
            </a:r>
          </a:p>
          <a:p xmlns:a="http://schemas.openxmlformats.org/drawingml/2006/main"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и политики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7A2005-2D02-4C4A-AF76-C0706F176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114675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</a:defRPr>
            </a:pPr>
            <a:r>
              <a:rPr sz="225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F9E07B-906D-4230-AB80-CDA134E43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667000"/>
            <a:ext cx="1809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CA9A3D-CBC7-4E60-B4C9-24D27DC6B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66700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CAEC7D-82DD-43DD-8C68-8D5D2E365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83845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Register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0B833C-3198-4089-AF1C-F98C43FEB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219450"/>
            <a:ext cx="1409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add · remove</a:t>
            </a:r>
          </a:p>
          <a:p xmlns:a="http://schemas.openxmlformats.org/drawingml/2006/main"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is_exist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076062-89D8-499B-B79B-EC40A37AB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114675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</a:defRPr>
            </a:pPr>
            <a:r>
              <a:rPr sz="225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DD02E8-C646-4DFA-9D0F-9E56D6068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67000"/>
            <a:ext cx="1809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BEA89E-A8B9-43D3-9435-546E1E6EC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6700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C777A2-F02F-4F1E-B9EF-22ED8D237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83845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Result / future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86878C-C583-4D0B-9B27-35B95DD6B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219450"/>
            <a:ext cx="1409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значение или</a:t>
            </a:r>
          </a:p>
          <a:p xmlns:a="http://schemas.openxmlformats.org/drawingml/2006/main"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ошибка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6DCA82-93BF-476B-B70F-9F8629FD8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19650"/>
            <a:ext cx="83820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F2C996-14BA-44C3-B2BA-A6D22E451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000625"/>
            <a:ext cx="800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Один API-доступ · разные режимы исполнения · предсказуемый lifecycle</a:t>
            </a:r>
          </a:p>
        </p:txBody>
      </p:sp>
    </p:spTree>
    <p:extLst>
      <p:ext uri="{BB962C8B-B14F-4D97-AF65-F5344CB8AC3E}">
        <p14:creationId xmlns:p14="http://schemas.microsoft.com/office/powerpoint/2010/main" val="14766038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1799CF-9C1B-4607-8CBC-14753A23A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02 / EXECUTION MODES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022414-3A06-4B9B-B995-2D0A171EC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Режим выбирается типами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C673A3-65BF-4F5D-8C74-59623B469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19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TypeRegister и TypeHandler задают модель синхронизации без изменения прикладного кода.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5A6348-83F8-4E5C-A094-77A75525A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MicroErrorSystem · API 0.1.0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9FDAB5-A00A-4EA0-A6BA-FB24A5AC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0FDE26-04D2-451A-8E43-5AEAFD84B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3048000" cy="20574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461EB0-1548-4628-AAE4-7DB23973A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5715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EA252D-83A4-46D2-A515-6B0F5EDF3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33650"/>
            <a:ext cx="2647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SingleThreaded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06833F-0128-4AD2-85A9-10F431E7A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14650"/>
            <a:ext cx="26479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Минимальные накладные расходы.</a:t>
            </a:r>
          </a:p>
          <a:p xmlns:a="http://schemas.openxmlformats.org/drawingml/2006/main"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Удобен для CLI, тестов и локального</a:t>
            </a:r>
          </a:p>
          <a:p xmlns:a="http://schemas.openxmlformats.org/drawingml/2006/main"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контура ошибок.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DEFB2D-9D22-4D5D-900D-5FB13252D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62200"/>
            <a:ext cx="3048000" cy="20574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AF90AD-5235-4E49-BC34-86EECEF1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62200"/>
            <a:ext cx="5715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320835-78F4-4444-B742-BBA1C8AF2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533650"/>
            <a:ext cx="2647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MultiThreaded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49DBD2-E04E-4776-BC1A-6A9B84254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914650"/>
            <a:ext cx="26479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Потокобезопасные регистры и</a:t>
            </a:r>
          </a:p>
          <a:p xmlns:a="http://schemas.openxmlformats.org/drawingml/2006/main"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конкурентный handler.</a:t>
            </a:r>
          </a:p>
          <a:p xmlns:a="http://schemas.openxmlformats.org/drawingml/2006/main"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Данные защищены mutex/shared state.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CB20D8-B0D9-46D3-8677-231B13E1B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62200"/>
            <a:ext cx="3048000" cy="20574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73A791-DE23-4F61-9EAA-FA38D992D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62200"/>
            <a:ext cx="5715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530378-B7E0-41BE-84D7-FD538F470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533650"/>
            <a:ext cx="2647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Async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DC2A9F-3D6C-4E6B-BC5B-CC9526D9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914650"/>
            <a:ext cx="26479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IndustrialWorkerPool: bounded</a:t>
            </a:r>
          </a:p>
          <a:p xmlns:a="http://schemas.openxmlformats.org/drawingml/2006/main"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очередь, backpressure, отмена,</a:t>
            </a:r>
          </a:p>
          <a:p xmlns:a="http://schemas.openxmlformats.org/drawingml/2006/main"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очистка и безопасное завершение.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88BFC8-4704-42BD-A538-568C3EBB2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2038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E2F61B-1018-4B5A-AC53-E365A2574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2038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capacity ≤ 1 000 000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5B8A2F-D71E-42C9-B21A-F9BE51321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933950"/>
            <a:ext cx="1809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6C74E4-9EAD-4F81-8504-FE284708F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9911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workers ≤ 1 024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6301F6-4AF0-48F0-B7C8-1C15F8C51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933950"/>
            <a:ext cx="19526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3A45A7-06B9-41D7-B24A-BB3590039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991100"/>
            <a:ext cx="1952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59E0B"/>
                </a:solidFill>
              </a:defRPr>
            </a:pPr>
            <a:r>
              <a:rPr sz="900" b="1">
                <a:solidFill>
                  <a:srgbClr val="F59E0B"/>
                </a:solidFill>
              </a:rPr>
              <a:t>queue ≤ 1 024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ED074F-5701-4712-8AFE-E25361D47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4933950"/>
            <a:ext cx="1809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E7C293-770F-47D7-A612-DA7191477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49911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827"/>
                </a:solidFill>
              </a:defRPr>
            </a:pPr>
            <a:r>
              <a:rPr sz="900" b="1">
                <a:solidFill>
                  <a:srgbClr val="111827"/>
                </a:solidFill>
              </a:rPr>
              <a:t>stop_token</a:t>
            </a:r>
          </a:p>
        </p:txBody>
      </p:sp>
    </p:spTree>
    <p:extLst>
      <p:ext uri="{BB962C8B-B14F-4D97-AF65-F5344CB8AC3E}">
        <p14:creationId xmlns:p14="http://schemas.microsoft.com/office/powerpoint/2010/main" val="5548110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222AB8-7E07-438B-8403-8EBFBEF57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03 / SAFETY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B765FD-3780-438B-9FBB-0A6798341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Надёжность — это ownership и shutdown-инварианты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6D94B7-BFA1-4B7F-8181-5A458D8DB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19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Исправления проверены тестами, sanitizers и повторным прогоном после фиксов.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D5C814-C11C-4366-9E55-DDA9E2287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MicroErrorSystem · API 0.1.0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1CCB97-179D-45D3-AF4C-9D0055759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92861D-6787-4613-9067-3360A52AA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5048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45FF05-F72D-45F4-8A96-9256627F7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571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C0E77F-22F6-4EAF-8C19-3CA69FEDD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62200"/>
            <a:ext cx="4648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Async lifetime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0A9C27-22B5-4B4E-BF2D-4D5547D99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4648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Задачи захватывают shared handler, а не this.</a:t>
            </a:r>
          </a:p>
          <a:p xmlns:a="http://schemas.openxmlformats.org/drawingml/2006/main"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Система может быть уничтожена до завершения future.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568C8B-9F11-4696-96E9-C0347E493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5048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572B0C-A8BD-4D5A-9DD6-415CD6CB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571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C6A489-0309-47EB-8819-3409ED181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95700"/>
            <a:ext cx="4648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Logger callbacks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AE6E39-C5E1-4113-AC03-9F019BA84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76700"/>
            <a:ext cx="4648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Snapshot sink-ов под mutex, callback — под</a:t>
            </a:r>
          </a:p>
          <a:p xmlns:a="http://schemas.openxmlformats.org/drawingml/2006/main"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recursive mutex; reentrant attach/detach разрешён.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5901CA-797D-4AA0-B6DD-E84876849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90750"/>
            <a:ext cx="52197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638E8B-BC61-4608-A123-691DDEC06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90750"/>
            <a:ext cx="571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CD2F78-2F77-4D74-806C-D7B3243C3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622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Worker self-shutdown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0FF342-A799-49C1-97AD-5E6E4EDA7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743200"/>
            <a:ext cx="4819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Worker только сигнализирует остановку.</a:t>
            </a:r>
          </a:p>
          <a:p xmlns:a="http://schemas.openxmlformats.org/drawingml/2006/main"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Владелец позже забирает jthread и join-ит его.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C2626D-856E-446F-A344-8809948CB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24250"/>
            <a:ext cx="52197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A84C0D-3097-4465-B889-0A32AADE3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24250"/>
            <a:ext cx="571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EE20FB-D304-4D4B-9197-883A4B5D9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957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Contracts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5058D3-BB5E-4780-B0D3-FE8F8DB50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076700"/>
            <a:ext cx="4819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Register и sink — non-owning ссылки.</a:t>
            </a:r>
          </a:p>
          <a:p xmlns:a="http://schemas.openxmlformats.org/drawingml/2006/main"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Их lifetime должен превышать system/logger.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7E12FB-2ABA-4597-A232-DEB18AED5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108204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B1EB33-0270-4981-8F6C-9F7DDF700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970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6534"/>
                </a:solidFill>
              </a:defRPr>
            </a:pPr>
            <a:r>
              <a:rPr sz="1350" b="1">
                <a:solidFill>
                  <a:srgbClr val="166534"/>
                </a:solidFill>
              </a:rPr>
              <a:t>RAII · stop_token · bounded resources · no detached threads</a:t>
            </a:r>
          </a:p>
        </p:txBody>
      </p:sp>
    </p:spTree>
    <p:extLst>
      <p:ext uri="{BB962C8B-B14F-4D97-AF65-F5344CB8AC3E}">
        <p14:creationId xmlns:p14="http://schemas.microsoft.com/office/powerpoint/2010/main" val="18562406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0B948A-5EF8-4FFA-B11C-F2337E29D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04 / VERIFICATION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3723DD-ADB5-47FF-87AC-511AC5580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Проверка по слоям, а не один happy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4C1530-61B4-4470-9198-FC9CAD2DB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19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Одинаковый набор тестов проходит в Release и под ASan/UBSan.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2CFF0A-BF3F-47C8-9265-0047823BC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MicroErrorSystem · API 0.1.0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CC97C7-70A9-4087-B201-9B573C12E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B592CD-87D2-436D-9646-262A388C9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66950"/>
            <a:ext cx="9867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428974-2AB0-467A-BEC0-79CA84CB7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47925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Release / native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6F247C-BDAA-46A4-AEDA-9ABF925BA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479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6A34A"/>
                </a:solidFill>
              </a:defRPr>
            </a:pPr>
            <a:r>
              <a:rPr sz="1350" b="1">
                <a:solidFill>
                  <a:srgbClr val="16A34A"/>
                </a:solidFill>
              </a:rPr>
              <a:t>3 / 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12D616-6267-4B4F-9FA8-89E0388C7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09900"/>
            <a:ext cx="9867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C50B00-9271-489D-9964-984C1C821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90875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External + benchmark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76E386-944B-40D5-8C47-C4A5DF282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908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6A34A"/>
                </a:solidFill>
              </a:defRPr>
            </a:pPr>
            <a:r>
              <a:rPr sz="1350" b="1">
                <a:solidFill>
                  <a:srgbClr val="16A34A"/>
                </a:solidFill>
              </a:rPr>
              <a:t>4 / 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D08174-8799-4358-BD28-138C25890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52850"/>
            <a:ext cx="9867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FBFF94-7562-4501-B5DB-1C4B36F44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33825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ASan + UBSan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303E11-93AA-421F-9186-83C194711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338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6A34A"/>
                </a:solidFill>
              </a:defRPr>
            </a:pPr>
            <a:r>
              <a:rPr sz="1350" b="1">
                <a:solidFill>
                  <a:srgbClr val="16A34A"/>
                </a:solidFill>
              </a:rPr>
              <a:t>3 / 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3860C1-EFB0-4B44-837D-3995FE0BF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95800"/>
            <a:ext cx="9867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2B0359-79A1-49C5-B933-186B8A465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76775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Clang warnings / C++23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D50ED0-2D89-42CE-8C07-E90590A52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767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6A34A"/>
                </a:solidFill>
              </a:defRPr>
            </a:pPr>
            <a:r>
              <a:rPr sz="1350" b="1">
                <a:solidFill>
                  <a:srgbClr val="16A34A"/>
                </a:solidFill>
              </a:rPr>
              <a:t>без ошибок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646AE6-73B1-40E0-BCC5-ACAFFD648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524500"/>
            <a:ext cx="986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Проблема с concurrent sink callbacks была обнаружена ASan и устранена отдельным callback mutex.</a:t>
            </a:r>
          </a:p>
        </p:txBody>
      </p:sp>
    </p:spTree>
    <p:extLst>
      <p:ext uri="{BB962C8B-B14F-4D97-AF65-F5344CB8AC3E}">
        <p14:creationId xmlns:p14="http://schemas.microsoft.com/office/powerpoint/2010/main" val="12053132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E8E73E-3A5B-411E-B17E-A8A8E6660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05 / BENCHMARKS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D29A73-D85E-48DF-9B9A-A16A2640D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Измерения показывают стоимость и масштабирование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245520-97B5-4EDC-A7A1-2C60C2104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19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Release, AMD Ryzen 7 PRO 1700X · 8C/16T · Windows 10 · Clang 22.1.6.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20B27E-89A6-4144-AEA4-9F54234FE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MicroErrorSystem · API 0.1.0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925E1D-5F97-4D3F-BCA3-1EE2FE7E9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AD6079-58D2-470A-8101-30EFDE3D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52197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10B6FD-54BB-4132-86E1-EF9DA889F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8600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Native API · operations/s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61FA67-7AF4-4D80-89EB-702730F32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7180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single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8393EC-1A47-4359-9EAF-31EC146A2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990850"/>
            <a:ext cx="2145114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703DC9-6866-4BE1-9251-C72319C95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5364" y="29718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3.6324M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FB7012-D2FE-474A-8E37-9ADFD2CCB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1950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multi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513D08-26AC-42C0-8FA6-6A603DD55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638550"/>
            <a:ext cx="2677111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796FD1-FDE2-447D-A483-7346BE9CA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7361" y="3619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4.53325M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89C38C-1E93-4E70-9566-8005D5417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6720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async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878071-A07F-4709-B8AB-CA8E72D4B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86250"/>
            <a:ext cx="144495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4BA5DE-3291-4E9B-8F36-80461F31D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4745" y="42672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0.244678M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FED1FF-3281-4DA6-A10B-1E5679645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530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workloads differ; compare within a panel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0B031E-EBEE-451A-BD3D-A4850AF53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57400"/>
            <a:ext cx="52197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C7E817-7E32-4E5B-A6CD-416EA2691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28600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External parser · documents/s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4F5365-1848-4CA0-95CD-523B2700D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813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parse only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D33EF1-2A66-46BF-B1C1-A9C0342FD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00400"/>
            <a:ext cx="1332012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7F6F94-8AAE-474B-968A-552BD275A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3012" y="31813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111.875k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1DDC25-E457-4A33-8966-530605F1E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624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parse + control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BC9A3A-A922-4802-99D9-B47452E4A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981450"/>
            <a:ext cx="267406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B5309E-0D90-44AC-BBED-70E612A98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5060" y="39624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224.593k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08670F-07AD-45EF-849B-776C203EB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95300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20,000 docs · 6,667 malformed · 4 workers</a:t>
            </a:r>
          </a:p>
        </p:txBody>
      </p:sp>
    </p:spTree>
    <p:extLst>
      <p:ext uri="{BB962C8B-B14F-4D97-AF65-F5344CB8AC3E}">
        <p14:creationId xmlns:p14="http://schemas.microsoft.com/office/powerpoint/2010/main" val="17899219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7EBB51-1381-4175-80AF-0AD898992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06 / EXTERNAL INTEGRATION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29D86F-3835-47F2-9E1E-C13446C7F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Контроль ошибок проверен вокруг реального репозитория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FFC903-71E3-4A69-A274-4B2595070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19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Тестовый контур не изолирован от внешнего кода: он подключает официальную библиотеку JSON.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54D296-F671-4182-B243-BBCCA9978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MicroErrorSystem · API 0.1.0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37D2C7-526D-456F-8CD4-C48996504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A4E149-230B-46B4-BEA0-0E2409DBE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3048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022229-FB51-44E6-AC2E-3709A6FCD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ABF4B1-15A2-4021-8054-1D7D8242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2647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Third party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BDD99A-7213-4BFD-A5B4-2C751B8F2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38450"/>
            <a:ext cx="26479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nlohmann/json</a:t>
            </a:r>
          </a:p>
          <a:p xmlns:a="http://schemas.openxmlformats.org/drawingml/2006/main"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v3.12.0</a:t>
            </a:r>
          </a:p>
          <a:p xmlns:a="http://schemas.openxmlformats.org/drawingml/2006/main"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MIT license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A0610F-81BD-469E-8F7C-07E8A0A66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86000"/>
            <a:ext cx="3048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D0B917-14B5-4FCF-8E75-90BB0D366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8600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C16E1F-434D-4171-8BFD-A7EB406F0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457450"/>
            <a:ext cx="2647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Pinned source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D8D844-EE76-4820-8B39-13D0C89D0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838450"/>
            <a:ext cx="26479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tag v3.12.0</a:t>
            </a:r>
          </a:p>
          <a:p xmlns:a="http://schemas.openxmlformats.org/drawingml/2006/main"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commit 65ee684…</a:t>
            </a:r>
          </a:p>
          <a:p xmlns:a="http://schemas.openxmlformats.org/drawingml/2006/main"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FetchContent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CE68CC-AE86-4159-A72F-C9865B5AD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86000"/>
            <a:ext cx="3048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F51F77-627E-4138-B230-6F6833D8F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8600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FC0D6E-62FB-4940-A7F3-62B5BC684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457450"/>
            <a:ext cx="2647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Observed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29F18F-B7FE-4D44-B4BF-C57426AE3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838450"/>
            <a:ext cx="26479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20,000 inputs</a:t>
            </a:r>
          </a:p>
          <a:p xmlns:a="http://schemas.openxmlformats.org/drawingml/2006/main"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6,667 malformed</a:t>
            </a:r>
          </a:p>
          <a:p xmlns:a="http://schemas.openxmlformats.org/drawingml/2006/main"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4 / 4 CTest passed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737A8D-EC14-4F6A-B8BC-1E5E87661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577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External repo → parser → Error → category register → Result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7B6734-5557-41E5-802B-17DEDE5B2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3400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github.com/nlohmann/json</a:t>
            </a:r>
          </a:p>
        </p:txBody>
      </p:sp>
    </p:spTree>
    <p:extLst>
      <p:ext uri="{BB962C8B-B14F-4D97-AF65-F5344CB8AC3E}">
        <p14:creationId xmlns:p14="http://schemas.microsoft.com/office/powerpoint/2010/main" val="3418138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7D538B-8025-4227-8EBE-95FD10959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07 / TAKEAWAY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5C76B8-85ED-4115-8D9C-CEE451F88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Что уже доказано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2D2641-6096-42BE-B026-14CC5A82B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19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Это не production-ready продукт — это честный, проверяемый фундамент микро-фреймворка.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E8E6E7-9106-43E7-9338-411E6A921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MicroErrorSystem · API 0.1.0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FA7363-89C8-4562-B5DF-A9767E076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47DCB8-A505-42C6-BED3-5F6939017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098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A34A"/>
                </a:solidFill>
              </a:defRPr>
            </a:pPr>
            <a:r>
              <a:rPr sz="1725" b="1">
                <a:solidFill>
                  <a:srgbClr val="16A34A"/>
                </a:solidFill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196975-B61B-43DD-BA2D-C8DADCA1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2885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Единый error contour, независимый от предметной системы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090325-E7D5-4945-9AAC-62B16DFC7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384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A34A"/>
                </a:solidFill>
              </a:defRPr>
            </a:pPr>
            <a:r>
              <a:rPr sz="1725" b="1">
                <a:solidFill>
                  <a:srgbClr val="16A34A"/>
                </a:solidFill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EE4DFB-9085-41BE-B416-0DB7CC43B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575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Три режима исполнения с типовым выбором политики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57CAA7-BE75-49F1-88A8-9E101081A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671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A34A"/>
                </a:solidFill>
              </a:defRPr>
            </a:pPr>
            <a:r>
              <a:rPr sz="1725" b="1">
                <a:solidFill>
                  <a:srgbClr val="16A34A"/>
                </a:solidFill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AB32F8-9839-4EAB-9C4C-F31342D76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8615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Bounded worker pool: backpressure, cancellation, cleanup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A0B5BA-E167-4E98-BE57-160C3FE89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A34A"/>
                </a:solidFill>
              </a:defRPr>
            </a:pPr>
            <a:r>
              <a:rPr sz="1725" b="1">
                <a:solidFill>
                  <a:srgbClr val="16A34A"/>
                </a:solidFill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A47842-4E7F-45A5-AF0B-C74B7A81C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148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Проверка внешней интеграцией и sanitizers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C399F0-4EF1-4740-8A5E-66530F6D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10150"/>
            <a:ext cx="9810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BE3ADF-DF02-4FAF-8E4D-1FB44FEFB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2006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Главный слоган: контур логгирования и контроля ошибок вне зависимости от системы.</a:t>
            </a:r>
          </a:p>
        </p:txBody>
      </p:sp>
    </p:spTree>
    <p:extLst>
      <p:ext uri="{BB962C8B-B14F-4D97-AF65-F5344CB8AC3E}">
        <p14:creationId xmlns:p14="http://schemas.microsoft.com/office/powerpoint/2010/main" val="13684160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2026-08-17T17:25:55.6450000Z</dcterms:created>
  <dcterms:modified xsi:type="dcterms:W3CDTF">2026-08-17T17:25:55.6460000Z</dcterms:modified>
</coreProperties>
</file>